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Montserrat"/>
      <p:regular r:id="rId29"/>
      <p:bold r:id="rId30"/>
      <p:italic r:id="rId31"/>
      <p:boldItalic r:id="rId32"/>
    </p:embeddedFont>
    <p:embeddedFont>
      <p:font typeface="Lat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italic.fntdata"/><Relationship Id="rId30" Type="http://schemas.openxmlformats.org/officeDocument/2006/relationships/font" Target="fonts/Montserrat-bold.fntdata"/><Relationship Id="rId11" Type="http://schemas.openxmlformats.org/officeDocument/2006/relationships/slide" Target="slides/slide6.xml"/><Relationship Id="rId33" Type="http://schemas.openxmlformats.org/officeDocument/2006/relationships/font" Target="fonts/Lato-regular.fntdata"/><Relationship Id="rId10" Type="http://schemas.openxmlformats.org/officeDocument/2006/relationships/slide" Target="slides/slide5.xml"/><Relationship Id="rId32" Type="http://schemas.openxmlformats.org/officeDocument/2006/relationships/font" Target="fonts/Montserrat-boldItalic.fntdata"/><Relationship Id="rId13" Type="http://schemas.openxmlformats.org/officeDocument/2006/relationships/slide" Target="slides/slide8.xml"/><Relationship Id="rId35" Type="http://schemas.openxmlformats.org/officeDocument/2006/relationships/font" Target="fonts/Lato-italic.fntdata"/><Relationship Id="rId12" Type="http://schemas.openxmlformats.org/officeDocument/2006/relationships/slide" Target="slides/slide7.xml"/><Relationship Id="rId34" Type="http://schemas.openxmlformats.org/officeDocument/2006/relationships/font" Target="fonts/Lato-bold.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Lat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2af6fceb94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12af6fceb94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2b42f2343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2b42f2343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2af6fceb94_0_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2af6fceb94_0_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you can see our thought process where we have a red window that would be moving </a:t>
            </a:r>
            <a:r>
              <a:rPr lang="en"/>
              <a:t>across</a:t>
            </a:r>
            <a:r>
              <a:rPr lang="en"/>
              <a:t> the time domain and we would have some stored data that would allow us to </a:t>
            </a:r>
            <a:r>
              <a:rPr lang="en"/>
              <a:t>differentiate</a:t>
            </a:r>
            <a:r>
              <a:rPr lang="en"/>
              <a:t> the phonemes.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2af6fceb94_0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2af6fceb94_0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Throughout this project we have tried 3 different methods, peak frequency, peak frequency bandwidths, and storing the whole frequency spectrum. Here we can see our 3 different approaches that we tried throughout the project. For method one you can see we selected the peak frequencies that we saw activity in and </a:t>
            </a:r>
            <a:r>
              <a:rPr lang="en"/>
              <a:t>stored</a:t>
            </a:r>
            <a:r>
              <a:rPr lang="en"/>
              <a:t> those densities as a threshold and used that to detect the phoneme. For method 2 we used a range of activity for each phoneme that we saw and we would store those frequency ranges and get an avg density in each range to use as a threshold. The final method that we used was the 3rd method where we would take the </a:t>
            </a:r>
            <a:r>
              <a:rPr lang="en"/>
              <a:t>whole</a:t>
            </a:r>
            <a:r>
              <a:rPr lang="en"/>
              <a:t> window segment of the active phoneme. We would then sum it across each frequency and get the avg for each frequency. Then we would be able to cross correlate this stored phoneme data with the current window we are detecting.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2b42f2343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2b42f2343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2af6fceb94_0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2af6fceb94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we can see that we store our peak frequencies and we keep in mind the peak density that it had as a threshold, if it passes the threshold then the if statement is triggered and the phoneme is recorded. Issues we had for this method was normalization where instead of normalizing the data. We tried to reduce the threshold by a percentage to allow some leeway of different dB of speaking.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2af6fceb94_0_5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2af6fceb94_0_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you can see us storing the frequency range of 2 peak frequencies that we detected. We then got the avg density for each range and stored that as well to use as our threshold. When our threshold is triggered in our frequency range. We know that the signal is detected.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2af6fceb94_0_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2af6fceb94_0_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2af6fceb94_0_6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2af6fceb94_0_6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All phonemes plotted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2af6fceb94_0_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2af6fceb94_0_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12af6fceb94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12af6fceb94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2af6fceb94_0_6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2af6fceb94_0_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2af6fceb94_0_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12af6fceb94_0_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12af6fceb94_0_6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12af6fceb94_0_6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2af6fceb94_0_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12af6fceb94_0_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2af6fceb94_0_6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2af6fceb94_0_6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2af6fceb94_0_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2af6fceb94_0_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12af6fceb94_0_7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12af6fceb94_0_7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2af6fceb94_0_7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2af6fceb94_0_7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2af6fceb94_0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12af6fceb94_0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2af6fceb94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2af6fceb94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12af6fceb94_0_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12af6fceb94_0_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1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8.jpg"/><Relationship Id="rId4" Type="http://schemas.openxmlformats.org/officeDocument/2006/relationships/image" Target="../media/image2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7.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4.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6.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1.png"/><Relationship Id="rId4" Type="http://schemas.openxmlformats.org/officeDocument/2006/relationships/image" Target="../media/image31.png"/><Relationship Id="rId5"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EE4820 Project Speech to Text. </a:t>
            </a:r>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By: Anthony Huynh &amp; </a:t>
            </a:r>
            <a:br>
              <a:rPr lang="en"/>
            </a:br>
            <a:r>
              <a:rPr lang="en"/>
              <a:t>      Christopher Morales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a:t>
            </a:r>
            <a:endParaRPr/>
          </a:p>
        </p:txBody>
      </p:sp>
      <p:sp>
        <p:nvSpPr>
          <p:cNvPr id="141" name="Google Shape;141;p1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SzPts val="1700"/>
              <a:buChar char="●"/>
            </a:pPr>
            <a:r>
              <a:rPr lang="en" sz="1700"/>
              <a:t>Gather a phoneme </a:t>
            </a:r>
            <a:r>
              <a:rPr lang="en" sz="1700"/>
              <a:t>bank</a:t>
            </a:r>
            <a:r>
              <a:rPr lang="en" sz="1700"/>
              <a:t> </a:t>
            </a:r>
            <a:endParaRPr sz="1700"/>
          </a:p>
          <a:p>
            <a:pPr indent="-323850" lvl="1" marL="914400" rtl="0" algn="l">
              <a:spcBef>
                <a:spcPts val="0"/>
              </a:spcBef>
              <a:spcAft>
                <a:spcPts val="0"/>
              </a:spcAft>
              <a:buSzPts val="1500"/>
              <a:buChar char="○"/>
            </a:pPr>
            <a:r>
              <a:rPr lang="en" sz="1500"/>
              <a:t>Use the spectrogram to gather the </a:t>
            </a:r>
            <a:r>
              <a:rPr lang="en" sz="1500"/>
              <a:t>frequency</a:t>
            </a:r>
            <a:r>
              <a:rPr lang="en" sz="1500"/>
              <a:t> and time range</a:t>
            </a:r>
            <a:endParaRPr sz="1500"/>
          </a:p>
          <a:p>
            <a:pPr indent="-323850" lvl="1" marL="914400" rtl="0" algn="l">
              <a:spcBef>
                <a:spcPts val="0"/>
              </a:spcBef>
              <a:spcAft>
                <a:spcPts val="0"/>
              </a:spcAft>
              <a:buSzPts val="1500"/>
              <a:buChar char="○"/>
            </a:pPr>
            <a:r>
              <a:rPr lang="en" sz="1500"/>
              <a:t> Gather characteristic of each phoneme</a:t>
            </a:r>
            <a:endParaRPr sz="1500"/>
          </a:p>
          <a:p>
            <a:pPr indent="-323850" lvl="1" marL="914400" rtl="0" algn="l">
              <a:spcBef>
                <a:spcPts val="0"/>
              </a:spcBef>
              <a:spcAft>
                <a:spcPts val="0"/>
              </a:spcAft>
              <a:buSzPts val="1500"/>
              <a:buChar char="○"/>
            </a:pPr>
            <a:r>
              <a:rPr lang="en" sz="1500"/>
              <a:t>Visually shows the active frequency of the phoneme</a:t>
            </a:r>
            <a:endParaRPr sz="1500"/>
          </a:p>
          <a:p>
            <a:pPr indent="-336550" lvl="0" marL="457200" rtl="0" algn="l">
              <a:spcBef>
                <a:spcPts val="0"/>
              </a:spcBef>
              <a:spcAft>
                <a:spcPts val="0"/>
              </a:spcAft>
              <a:buSzPts val="1700"/>
              <a:buChar char="●"/>
            </a:pPr>
            <a:r>
              <a:rPr lang="en" sz="1700"/>
              <a:t>Gather information that can determine a speech file</a:t>
            </a:r>
            <a:endParaRPr sz="1700"/>
          </a:p>
          <a:p>
            <a:pPr indent="-323850" lvl="1" marL="914400" rtl="0" algn="l">
              <a:spcBef>
                <a:spcPts val="0"/>
              </a:spcBef>
              <a:spcAft>
                <a:spcPts val="0"/>
              </a:spcAft>
              <a:buSzPts val="1500"/>
              <a:buChar char="○"/>
            </a:pPr>
            <a:r>
              <a:rPr lang="en" sz="1500"/>
              <a:t>Uses the phoneme bank by determining the correlation of that specific window of the audio</a:t>
            </a:r>
            <a:endParaRPr sz="1500"/>
          </a:p>
          <a:p>
            <a:pPr indent="0" lvl="0" marL="91440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was our thought process to approach this problem</a:t>
            </a:r>
            <a:endParaRPr/>
          </a:p>
          <a:p>
            <a:pPr indent="0" lvl="0" marL="0" rtl="0" algn="l">
              <a:spcBef>
                <a:spcPts val="0"/>
              </a:spcBef>
              <a:spcAft>
                <a:spcPts val="0"/>
              </a:spcAft>
              <a:buNone/>
            </a:pPr>
            <a:r>
              <a:t/>
            </a:r>
            <a:endParaRPr/>
          </a:p>
        </p:txBody>
      </p:sp>
      <p:pic>
        <p:nvPicPr>
          <p:cNvPr id="147" name="Google Shape;147;p15"/>
          <p:cNvPicPr preferRelativeResize="0"/>
          <p:nvPr/>
        </p:nvPicPr>
        <p:blipFill>
          <a:blip r:embed="rId3">
            <a:alphaModFix/>
          </a:blip>
          <a:stretch>
            <a:fillRect/>
          </a:stretch>
        </p:blipFill>
        <p:spPr>
          <a:xfrm>
            <a:off x="152400" y="1460250"/>
            <a:ext cx="4256325" cy="3192250"/>
          </a:xfrm>
          <a:prstGeom prst="rect">
            <a:avLst/>
          </a:prstGeom>
          <a:noFill/>
          <a:ln>
            <a:noFill/>
          </a:ln>
        </p:spPr>
      </p:pic>
      <p:pic>
        <p:nvPicPr>
          <p:cNvPr id="148" name="Google Shape;148;p15"/>
          <p:cNvPicPr preferRelativeResize="0"/>
          <p:nvPr/>
        </p:nvPicPr>
        <p:blipFill>
          <a:blip r:embed="rId4">
            <a:alphaModFix/>
          </a:blip>
          <a:stretch>
            <a:fillRect/>
          </a:stretch>
        </p:blipFill>
        <p:spPr>
          <a:xfrm>
            <a:off x="4712700" y="1460250"/>
            <a:ext cx="4256325" cy="319224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was our </a:t>
            </a:r>
            <a:r>
              <a:rPr lang="en"/>
              <a:t>thought</a:t>
            </a:r>
            <a:r>
              <a:rPr lang="en"/>
              <a:t> process to approach this problem</a:t>
            </a:r>
            <a:endParaRPr/>
          </a:p>
        </p:txBody>
      </p:sp>
      <p:sp>
        <p:nvSpPr>
          <p:cNvPr id="154" name="Google Shape;154;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Our thought process was to have a window shifting across the time domain, and somehow detect the different phonemes by checking each phoneme through some type of if </a:t>
            </a:r>
            <a:r>
              <a:rPr lang="en"/>
              <a:t>statement. And then storing that phoneme. We would also have a way to check for repeating phonemes. </a:t>
            </a:r>
            <a:endParaRPr/>
          </a:p>
        </p:txBody>
      </p:sp>
      <p:pic>
        <p:nvPicPr>
          <p:cNvPr id="155" name="Google Shape;155;p16"/>
          <p:cNvPicPr preferRelativeResize="0"/>
          <p:nvPr/>
        </p:nvPicPr>
        <p:blipFill>
          <a:blip r:embed="rId3">
            <a:alphaModFix/>
          </a:blip>
          <a:stretch>
            <a:fillRect/>
          </a:stretch>
        </p:blipFill>
        <p:spPr>
          <a:xfrm>
            <a:off x="1387663" y="2433375"/>
            <a:ext cx="6368673" cy="2564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methods we tried </a:t>
            </a:r>
            <a:endParaRPr/>
          </a:p>
        </p:txBody>
      </p:sp>
      <p:sp>
        <p:nvSpPr>
          <p:cNvPr id="161" name="Google Shape;161;p17"/>
          <p:cNvSpPr txBox="1"/>
          <p:nvPr>
            <p:ph idx="1" type="body"/>
          </p:nvPr>
        </p:nvSpPr>
        <p:spPr>
          <a:xfrm>
            <a:off x="1297500" y="1181250"/>
            <a:ext cx="7038900" cy="794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Throughout this project we have tried 3 different methods, peak frequency, peak frequency bandwidths, and storing the whole frequency spectrum. </a:t>
            </a:r>
            <a:endParaRPr/>
          </a:p>
        </p:txBody>
      </p:sp>
      <p:pic>
        <p:nvPicPr>
          <p:cNvPr id="162" name="Google Shape;162;p17"/>
          <p:cNvPicPr preferRelativeResize="0"/>
          <p:nvPr/>
        </p:nvPicPr>
        <p:blipFill>
          <a:blip r:embed="rId3">
            <a:alphaModFix/>
          </a:blip>
          <a:stretch>
            <a:fillRect/>
          </a:stretch>
        </p:blipFill>
        <p:spPr>
          <a:xfrm>
            <a:off x="224724" y="2330825"/>
            <a:ext cx="2920999" cy="2147925"/>
          </a:xfrm>
          <a:prstGeom prst="rect">
            <a:avLst/>
          </a:prstGeom>
          <a:noFill/>
          <a:ln>
            <a:noFill/>
          </a:ln>
        </p:spPr>
      </p:pic>
      <p:pic>
        <p:nvPicPr>
          <p:cNvPr id="163" name="Google Shape;163;p17"/>
          <p:cNvPicPr preferRelativeResize="0"/>
          <p:nvPr/>
        </p:nvPicPr>
        <p:blipFill>
          <a:blip r:embed="rId4">
            <a:alphaModFix/>
          </a:blip>
          <a:stretch>
            <a:fillRect/>
          </a:stretch>
        </p:blipFill>
        <p:spPr>
          <a:xfrm>
            <a:off x="3309150" y="2330825"/>
            <a:ext cx="2785295" cy="2147925"/>
          </a:xfrm>
          <a:prstGeom prst="rect">
            <a:avLst/>
          </a:prstGeom>
          <a:noFill/>
          <a:ln>
            <a:noFill/>
          </a:ln>
        </p:spPr>
      </p:pic>
      <p:pic>
        <p:nvPicPr>
          <p:cNvPr id="164" name="Google Shape;164;p17"/>
          <p:cNvPicPr preferRelativeResize="0"/>
          <p:nvPr/>
        </p:nvPicPr>
        <p:blipFill>
          <a:blip r:embed="rId5">
            <a:alphaModFix/>
          </a:blip>
          <a:stretch>
            <a:fillRect/>
          </a:stretch>
        </p:blipFill>
        <p:spPr>
          <a:xfrm>
            <a:off x="6257875" y="2330825"/>
            <a:ext cx="2591950" cy="2147925"/>
          </a:xfrm>
          <a:prstGeom prst="rect">
            <a:avLst/>
          </a:prstGeom>
          <a:noFill/>
          <a:ln>
            <a:noFill/>
          </a:ln>
        </p:spPr>
      </p:pic>
      <p:sp>
        <p:nvSpPr>
          <p:cNvPr id="165" name="Google Shape;165;p17"/>
          <p:cNvSpPr txBox="1"/>
          <p:nvPr/>
        </p:nvSpPr>
        <p:spPr>
          <a:xfrm>
            <a:off x="224725" y="4478750"/>
            <a:ext cx="2494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Lato"/>
                <a:ea typeface="Lato"/>
                <a:cs typeface="Lato"/>
                <a:sym typeface="Lato"/>
              </a:rPr>
              <a:t>Method 1: peak frequencies</a:t>
            </a:r>
            <a:endParaRPr>
              <a:solidFill>
                <a:schemeClr val="lt1"/>
              </a:solidFill>
              <a:latin typeface="Lato"/>
              <a:ea typeface="Lato"/>
              <a:cs typeface="Lato"/>
              <a:sym typeface="Lato"/>
            </a:endParaRPr>
          </a:p>
        </p:txBody>
      </p:sp>
      <p:sp>
        <p:nvSpPr>
          <p:cNvPr id="166" name="Google Shape;166;p17"/>
          <p:cNvSpPr txBox="1"/>
          <p:nvPr/>
        </p:nvSpPr>
        <p:spPr>
          <a:xfrm>
            <a:off x="3309200" y="4478750"/>
            <a:ext cx="2785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Lato"/>
                <a:ea typeface="Lato"/>
                <a:cs typeface="Lato"/>
                <a:sym typeface="Lato"/>
              </a:rPr>
              <a:t>Method 2: peak frequency ranges</a:t>
            </a:r>
            <a:endParaRPr>
              <a:solidFill>
                <a:schemeClr val="lt1"/>
              </a:solidFill>
              <a:latin typeface="Lato"/>
              <a:ea typeface="Lato"/>
              <a:cs typeface="Lato"/>
              <a:sym typeface="Lato"/>
            </a:endParaRPr>
          </a:p>
        </p:txBody>
      </p:sp>
      <p:sp>
        <p:nvSpPr>
          <p:cNvPr id="167" name="Google Shape;167;p17"/>
          <p:cNvSpPr txBox="1"/>
          <p:nvPr/>
        </p:nvSpPr>
        <p:spPr>
          <a:xfrm>
            <a:off x="6257875" y="4478750"/>
            <a:ext cx="2921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Lato"/>
                <a:ea typeface="Lato"/>
                <a:cs typeface="Lato"/>
                <a:sym typeface="Lato"/>
              </a:rPr>
              <a:t>Method 3: entire frequency range</a:t>
            </a:r>
            <a:endParaRPr>
              <a:solidFill>
                <a:schemeClr val="l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Method III Block Diagram</a:t>
            </a:r>
            <a:endParaRPr/>
          </a:p>
        </p:txBody>
      </p:sp>
      <p:pic>
        <p:nvPicPr>
          <p:cNvPr id="173" name="Google Shape;173;p18"/>
          <p:cNvPicPr preferRelativeResize="0"/>
          <p:nvPr/>
        </p:nvPicPr>
        <p:blipFill>
          <a:blip r:embed="rId3">
            <a:alphaModFix/>
          </a:blip>
          <a:stretch>
            <a:fillRect/>
          </a:stretch>
        </p:blipFill>
        <p:spPr>
          <a:xfrm>
            <a:off x="506425" y="884299"/>
            <a:ext cx="3852649" cy="3718625"/>
          </a:xfrm>
          <a:prstGeom prst="rect">
            <a:avLst/>
          </a:prstGeom>
          <a:noFill/>
          <a:ln>
            <a:noFill/>
          </a:ln>
        </p:spPr>
      </p:pic>
      <p:pic>
        <p:nvPicPr>
          <p:cNvPr id="174" name="Google Shape;174;p18"/>
          <p:cNvPicPr preferRelativeResize="0"/>
          <p:nvPr/>
        </p:nvPicPr>
        <p:blipFill>
          <a:blip r:embed="rId4">
            <a:alphaModFix/>
          </a:blip>
          <a:stretch>
            <a:fillRect/>
          </a:stretch>
        </p:blipFill>
        <p:spPr>
          <a:xfrm>
            <a:off x="4715400" y="865250"/>
            <a:ext cx="3852649" cy="375673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9"/>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 1 extracting peak frequency or frequencies. </a:t>
            </a:r>
            <a:endParaRPr/>
          </a:p>
        </p:txBody>
      </p:sp>
      <p:sp>
        <p:nvSpPr>
          <p:cNvPr id="180" name="Google Shape;180;p19"/>
          <p:cNvSpPr txBox="1"/>
          <p:nvPr>
            <p:ph idx="1" type="body"/>
          </p:nvPr>
        </p:nvSpPr>
        <p:spPr>
          <a:xfrm>
            <a:off x="1297500" y="1567550"/>
            <a:ext cx="7038900" cy="914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For our </a:t>
            </a:r>
            <a:r>
              <a:rPr lang="en"/>
              <a:t>first</a:t>
            </a:r>
            <a:r>
              <a:rPr lang="en"/>
              <a:t> method we would use the peak frequency and store that value with a threshold to be able to run an if statement to see if it the phoneme would trigger. If it did, then we would store that point in time as that phoneme.</a:t>
            </a:r>
            <a:endParaRPr/>
          </a:p>
        </p:txBody>
      </p:sp>
      <p:pic>
        <p:nvPicPr>
          <p:cNvPr id="181" name="Google Shape;181;p19"/>
          <p:cNvPicPr preferRelativeResize="0"/>
          <p:nvPr/>
        </p:nvPicPr>
        <p:blipFill>
          <a:blip r:embed="rId3">
            <a:alphaModFix/>
          </a:blip>
          <a:stretch>
            <a:fillRect/>
          </a:stretch>
        </p:blipFill>
        <p:spPr>
          <a:xfrm>
            <a:off x="0" y="2571750"/>
            <a:ext cx="2665375" cy="2119200"/>
          </a:xfrm>
          <a:prstGeom prst="rect">
            <a:avLst/>
          </a:prstGeom>
          <a:noFill/>
          <a:ln>
            <a:noFill/>
          </a:ln>
        </p:spPr>
      </p:pic>
      <p:pic>
        <p:nvPicPr>
          <p:cNvPr id="182" name="Google Shape;182;p19"/>
          <p:cNvPicPr preferRelativeResize="0"/>
          <p:nvPr/>
        </p:nvPicPr>
        <p:blipFill>
          <a:blip r:embed="rId4">
            <a:alphaModFix/>
          </a:blip>
          <a:stretch>
            <a:fillRect/>
          </a:stretch>
        </p:blipFill>
        <p:spPr>
          <a:xfrm>
            <a:off x="2665375" y="2571750"/>
            <a:ext cx="3687226" cy="2384100"/>
          </a:xfrm>
          <a:prstGeom prst="rect">
            <a:avLst/>
          </a:prstGeom>
          <a:noFill/>
          <a:ln>
            <a:noFill/>
          </a:ln>
        </p:spPr>
      </p:pic>
      <p:pic>
        <p:nvPicPr>
          <p:cNvPr id="183" name="Google Shape;183;p19"/>
          <p:cNvPicPr preferRelativeResize="0"/>
          <p:nvPr/>
        </p:nvPicPr>
        <p:blipFill>
          <a:blip r:embed="rId5">
            <a:alphaModFix/>
          </a:blip>
          <a:stretch>
            <a:fillRect/>
          </a:stretch>
        </p:blipFill>
        <p:spPr>
          <a:xfrm>
            <a:off x="6478625" y="2707487"/>
            <a:ext cx="2665375" cy="2112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Method 2 using peak frequency ranges</a:t>
            </a:r>
            <a:endParaRPr/>
          </a:p>
        </p:txBody>
      </p:sp>
      <p:sp>
        <p:nvSpPr>
          <p:cNvPr id="189" name="Google Shape;189;p20"/>
          <p:cNvSpPr txBox="1"/>
          <p:nvPr>
            <p:ph idx="1" type="body"/>
          </p:nvPr>
        </p:nvSpPr>
        <p:spPr>
          <a:xfrm>
            <a:off x="1297500" y="1352025"/>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Due to our issues with our first method for our second method we decided to store a range of the peak frequency and also store the avg density in that range. We </a:t>
            </a:r>
            <a:r>
              <a:rPr lang="en"/>
              <a:t>also normalize</a:t>
            </a:r>
            <a:r>
              <a:rPr lang="en"/>
              <a:t> the data by dividing the signal by its maximum density. </a:t>
            </a:r>
            <a:endParaRPr/>
          </a:p>
        </p:txBody>
      </p:sp>
      <p:pic>
        <p:nvPicPr>
          <p:cNvPr id="190" name="Google Shape;190;p20"/>
          <p:cNvPicPr preferRelativeResize="0"/>
          <p:nvPr/>
        </p:nvPicPr>
        <p:blipFill>
          <a:blip r:embed="rId3">
            <a:alphaModFix/>
          </a:blip>
          <a:stretch>
            <a:fillRect/>
          </a:stretch>
        </p:blipFill>
        <p:spPr>
          <a:xfrm>
            <a:off x="0" y="2483450"/>
            <a:ext cx="3268301" cy="2306850"/>
          </a:xfrm>
          <a:prstGeom prst="rect">
            <a:avLst/>
          </a:prstGeom>
          <a:noFill/>
          <a:ln>
            <a:noFill/>
          </a:ln>
        </p:spPr>
      </p:pic>
      <p:pic>
        <p:nvPicPr>
          <p:cNvPr id="191" name="Google Shape;191;p20"/>
          <p:cNvPicPr preferRelativeResize="0"/>
          <p:nvPr/>
        </p:nvPicPr>
        <p:blipFill>
          <a:blip r:embed="rId4">
            <a:alphaModFix/>
          </a:blip>
          <a:stretch>
            <a:fillRect/>
          </a:stretch>
        </p:blipFill>
        <p:spPr>
          <a:xfrm>
            <a:off x="3428100" y="2571750"/>
            <a:ext cx="3006799" cy="25251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1"/>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 3 corrcoef stored phoneme Frequency vectors and current window Frequency</a:t>
            </a:r>
            <a:endParaRPr/>
          </a:p>
        </p:txBody>
      </p:sp>
      <p:sp>
        <p:nvSpPr>
          <p:cNvPr id="197" name="Google Shape;197;p21"/>
          <p:cNvSpPr txBox="1"/>
          <p:nvPr>
            <p:ph idx="1" type="body"/>
          </p:nvPr>
        </p:nvSpPr>
        <p:spPr>
          <a:xfrm>
            <a:off x="5895900" y="1307850"/>
            <a:ext cx="32481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Our final method that we settled on was storing the whole Frequency range of each phoneme so we can cross correlate it with the current window. </a:t>
            </a:r>
            <a:endParaRPr/>
          </a:p>
        </p:txBody>
      </p:sp>
      <p:pic>
        <p:nvPicPr>
          <p:cNvPr id="198" name="Google Shape;198;p21"/>
          <p:cNvPicPr preferRelativeResize="0"/>
          <p:nvPr/>
        </p:nvPicPr>
        <p:blipFill>
          <a:blip r:embed="rId3">
            <a:alphaModFix/>
          </a:blip>
          <a:stretch>
            <a:fillRect/>
          </a:stretch>
        </p:blipFill>
        <p:spPr>
          <a:xfrm>
            <a:off x="163425" y="1265807"/>
            <a:ext cx="4985948" cy="2106043"/>
          </a:xfrm>
          <a:prstGeom prst="rect">
            <a:avLst/>
          </a:prstGeom>
          <a:noFill/>
          <a:ln>
            <a:noFill/>
          </a:ln>
        </p:spPr>
      </p:pic>
      <p:pic>
        <p:nvPicPr>
          <p:cNvPr id="199" name="Google Shape;199;p21"/>
          <p:cNvPicPr preferRelativeResize="0"/>
          <p:nvPr/>
        </p:nvPicPr>
        <p:blipFill>
          <a:blip r:embed="rId4">
            <a:alphaModFix/>
          </a:blip>
          <a:stretch>
            <a:fillRect/>
          </a:stretch>
        </p:blipFill>
        <p:spPr>
          <a:xfrm>
            <a:off x="163425" y="3371850"/>
            <a:ext cx="4985950" cy="1898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2"/>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 3 corrcoef stored phoneme Frequency vectors and current window Frequency cont…</a:t>
            </a:r>
            <a:endParaRPr/>
          </a:p>
        </p:txBody>
      </p:sp>
      <p:pic>
        <p:nvPicPr>
          <p:cNvPr id="205" name="Google Shape;205;p22"/>
          <p:cNvPicPr preferRelativeResize="0"/>
          <p:nvPr/>
        </p:nvPicPr>
        <p:blipFill>
          <a:blip r:embed="rId3">
            <a:alphaModFix/>
          </a:blip>
          <a:stretch>
            <a:fillRect/>
          </a:stretch>
        </p:blipFill>
        <p:spPr>
          <a:xfrm>
            <a:off x="86175" y="1471300"/>
            <a:ext cx="8839201" cy="3487406"/>
          </a:xfrm>
          <a:prstGeom prst="rect">
            <a:avLst/>
          </a:prstGeom>
          <a:noFill/>
          <a:ln>
            <a:noFill/>
          </a:ln>
        </p:spPr>
      </p:pic>
      <p:sp>
        <p:nvSpPr>
          <p:cNvPr id="206" name="Google Shape;206;p22"/>
          <p:cNvSpPr/>
          <p:nvPr/>
        </p:nvSpPr>
        <p:spPr>
          <a:xfrm>
            <a:off x="496700" y="1677700"/>
            <a:ext cx="3730800" cy="3079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3"/>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 3 corrcoef stored phoneme Frequency vectors and current window Frequency …</a:t>
            </a:r>
            <a:endParaRPr/>
          </a:p>
        </p:txBody>
      </p:sp>
      <p:pic>
        <p:nvPicPr>
          <p:cNvPr id="212" name="Google Shape;212;p23"/>
          <p:cNvPicPr preferRelativeResize="0"/>
          <p:nvPr/>
        </p:nvPicPr>
        <p:blipFill>
          <a:blip r:embed="rId3">
            <a:alphaModFix/>
          </a:blip>
          <a:stretch>
            <a:fillRect/>
          </a:stretch>
        </p:blipFill>
        <p:spPr>
          <a:xfrm>
            <a:off x="3082250" y="1899678"/>
            <a:ext cx="6061751" cy="2308050"/>
          </a:xfrm>
          <a:prstGeom prst="rect">
            <a:avLst/>
          </a:prstGeom>
          <a:noFill/>
          <a:ln>
            <a:noFill/>
          </a:ln>
        </p:spPr>
      </p:pic>
      <p:pic>
        <p:nvPicPr>
          <p:cNvPr id="213" name="Google Shape;213;p23"/>
          <p:cNvPicPr preferRelativeResize="0"/>
          <p:nvPr/>
        </p:nvPicPr>
        <p:blipFill rotWithShape="1">
          <a:blip r:embed="rId4">
            <a:alphaModFix/>
          </a:blip>
          <a:srcRect b="0" l="10321" r="8085" t="0"/>
          <a:stretch/>
        </p:blipFill>
        <p:spPr>
          <a:xfrm>
            <a:off x="54800" y="1899675"/>
            <a:ext cx="3027451" cy="1545275"/>
          </a:xfrm>
          <a:prstGeom prst="rect">
            <a:avLst/>
          </a:prstGeom>
          <a:noFill/>
          <a:ln>
            <a:noFill/>
          </a:ln>
        </p:spPr>
      </p:pic>
      <p:sp>
        <p:nvSpPr>
          <p:cNvPr id="214" name="Google Shape;214;p23"/>
          <p:cNvSpPr/>
          <p:nvPr/>
        </p:nvSpPr>
        <p:spPr>
          <a:xfrm>
            <a:off x="3256075" y="2041950"/>
            <a:ext cx="562800" cy="19977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3"/>
          <p:cNvSpPr/>
          <p:nvPr/>
        </p:nvSpPr>
        <p:spPr>
          <a:xfrm>
            <a:off x="6620400" y="2041950"/>
            <a:ext cx="562800" cy="19977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Results of our code/ how it works. </a:t>
            </a:r>
            <a:endParaRPr/>
          </a:p>
        </p:txBody>
      </p:sp>
      <p:sp>
        <p:nvSpPr>
          <p:cNvPr id="221" name="Google Shape;221;p24"/>
          <p:cNvSpPr txBox="1"/>
          <p:nvPr>
            <p:ph idx="1" type="body"/>
          </p:nvPr>
        </p:nvSpPr>
        <p:spPr>
          <a:xfrm>
            <a:off x="5540850" y="1567550"/>
            <a:ext cx="3388500" cy="12225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a:t>So the first step for our code is we run a separate code to gather all the phoneme data. To do this we have to load the audio file and find </a:t>
            </a:r>
            <a:r>
              <a:rPr lang="en"/>
              <a:t>where</a:t>
            </a:r>
            <a:r>
              <a:rPr lang="en"/>
              <a:t> the phoneme triggered in time domain</a:t>
            </a:r>
            <a:endParaRPr/>
          </a:p>
        </p:txBody>
      </p:sp>
      <p:pic>
        <p:nvPicPr>
          <p:cNvPr id="222" name="Google Shape;222;p24"/>
          <p:cNvPicPr preferRelativeResize="0"/>
          <p:nvPr/>
        </p:nvPicPr>
        <p:blipFill>
          <a:blip r:embed="rId3">
            <a:alphaModFix/>
          </a:blip>
          <a:stretch>
            <a:fillRect/>
          </a:stretch>
        </p:blipFill>
        <p:spPr>
          <a:xfrm>
            <a:off x="163425" y="1567550"/>
            <a:ext cx="5236051" cy="2750824"/>
          </a:xfrm>
          <a:prstGeom prst="rect">
            <a:avLst/>
          </a:prstGeom>
          <a:noFill/>
          <a:ln>
            <a:noFill/>
          </a:ln>
        </p:spPr>
      </p:pic>
      <p:pic>
        <p:nvPicPr>
          <p:cNvPr id="223" name="Google Shape;223;p24"/>
          <p:cNvPicPr preferRelativeResize="0"/>
          <p:nvPr/>
        </p:nvPicPr>
        <p:blipFill>
          <a:blip r:embed="rId4">
            <a:alphaModFix/>
          </a:blip>
          <a:stretch>
            <a:fillRect/>
          </a:stretch>
        </p:blipFill>
        <p:spPr>
          <a:xfrm>
            <a:off x="5905075" y="3058100"/>
            <a:ext cx="2505550" cy="20323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Results of our code/ how it works.  cont…</a:t>
            </a:r>
            <a:endParaRPr/>
          </a:p>
        </p:txBody>
      </p:sp>
      <p:sp>
        <p:nvSpPr>
          <p:cNvPr id="229" name="Google Shape;229;p25"/>
          <p:cNvSpPr txBox="1"/>
          <p:nvPr>
            <p:ph idx="1" type="body"/>
          </p:nvPr>
        </p:nvSpPr>
        <p:spPr>
          <a:xfrm>
            <a:off x="5551900" y="1015675"/>
            <a:ext cx="3388500" cy="167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Once we find the time start and end of the phoneme we save it and then snip that time window to save as Stemp. </a:t>
            </a:r>
            <a:endParaRPr/>
          </a:p>
          <a:p>
            <a:pPr indent="0" lvl="0" marL="0" rtl="0" algn="l">
              <a:spcBef>
                <a:spcPts val="1200"/>
              </a:spcBef>
              <a:spcAft>
                <a:spcPts val="1200"/>
              </a:spcAft>
              <a:buNone/>
            </a:pPr>
            <a:r>
              <a:rPr lang="en"/>
              <a:t>We then normalize our Stemp by dividing by the max density found. We then sum up the values </a:t>
            </a:r>
            <a:r>
              <a:rPr lang="en"/>
              <a:t>across</a:t>
            </a:r>
            <a:r>
              <a:rPr lang="en"/>
              <a:t> each Frequency. </a:t>
            </a:r>
            <a:endParaRPr/>
          </a:p>
        </p:txBody>
      </p:sp>
      <p:pic>
        <p:nvPicPr>
          <p:cNvPr id="230" name="Google Shape;230;p25"/>
          <p:cNvPicPr preferRelativeResize="0"/>
          <p:nvPr/>
        </p:nvPicPr>
        <p:blipFill>
          <a:blip r:embed="rId3">
            <a:alphaModFix/>
          </a:blip>
          <a:stretch>
            <a:fillRect/>
          </a:stretch>
        </p:blipFill>
        <p:spPr>
          <a:xfrm>
            <a:off x="152400" y="1460250"/>
            <a:ext cx="5236049" cy="3045078"/>
          </a:xfrm>
          <a:prstGeom prst="rect">
            <a:avLst/>
          </a:prstGeom>
          <a:noFill/>
          <a:ln>
            <a:noFill/>
          </a:ln>
        </p:spPr>
      </p:pic>
      <p:pic>
        <p:nvPicPr>
          <p:cNvPr id="231" name="Google Shape;231;p25"/>
          <p:cNvPicPr preferRelativeResize="0"/>
          <p:nvPr/>
        </p:nvPicPr>
        <p:blipFill>
          <a:blip r:embed="rId4">
            <a:alphaModFix/>
          </a:blip>
          <a:stretch>
            <a:fillRect/>
          </a:stretch>
        </p:blipFill>
        <p:spPr>
          <a:xfrm>
            <a:off x="5950175" y="2739200"/>
            <a:ext cx="2591950" cy="2147925"/>
          </a:xfrm>
          <a:prstGeom prst="rect">
            <a:avLst/>
          </a:prstGeom>
          <a:noFill/>
          <a:ln>
            <a:noFill/>
          </a:ln>
        </p:spPr>
      </p:pic>
      <p:cxnSp>
        <p:nvCxnSpPr>
          <p:cNvPr id="232" name="Google Shape;232;p25"/>
          <p:cNvCxnSpPr/>
          <p:nvPr/>
        </p:nvCxnSpPr>
        <p:spPr>
          <a:xfrm>
            <a:off x="6766025" y="2858725"/>
            <a:ext cx="717300" cy="0"/>
          </a:xfrm>
          <a:prstGeom prst="straightConnector1">
            <a:avLst/>
          </a:prstGeom>
          <a:noFill/>
          <a:ln cap="flat" cmpd="sng" w="38100">
            <a:solidFill>
              <a:srgbClr val="FF0000"/>
            </a:solidFill>
            <a:prstDash val="solid"/>
            <a:round/>
            <a:headEnd len="med" w="med" type="none"/>
            <a:tailEnd len="med" w="med" type="none"/>
          </a:ln>
        </p:spPr>
      </p:cxnSp>
      <p:cxnSp>
        <p:nvCxnSpPr>
          <p:cNvPr id="233" name="Google Shape;233;p25"/>
          <p:cNvCxnSpPr/>
          <p:nvPr/>
        </p:nvCxnSpPr>
        <p:spPr>
          <a:xfrm>
            <a:off x="6766025" y="2933875"/>
            <a:ext cx="717300" cy="0"/>
          </a:xfrm>
          <a:prstGeom prst="straightConnector1">
            <a:avLst/>
          </a:prstGeom>
          <a:noFill/>
          <a:ln cap="flat" cmpd="sng" w="38100">
            <a:solidFill>
              <a:srgbClr val="FF0000"/>
            </a:solidFill>
            <a:prstDash val="solid"/>
            <a:round/>
            <a:headEnd len="med" w="med" type="none"/>
            <a:tailEnd len="med" w="med" type="none"/>
          </a:ln>
        </p:spPr>
      </p:cxnSp>
      <p:cxnSp>
        <p:nvCxnSpPr>
          <p:cNvPr id="234" name="Google Shape;234;p25"/>
          <p:cNvCxnSpPr/>
          <p:nvPr/>
        </p:nvCxnSpPr>
        <p:spPr>
          <a:xfrm>
            <a:off x="6766025" y="3042125"/>
            <a:ext cx="717300" cy="0"/>
          </a:xfrm>
          <a:prstGeom prst="straightConnector1">
            <a:avLst/>
          </a:prstGeom>
          <a:noFill/>
          <a:ln cap="flat" cmpd="sng" w="38100">
            <a:solidFill>
              <a:srgbClr val="FF0000"/>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Results of our code/ how it works. cont…</a:t>
            </a:r>
            <a:endParaRPr/>
          </a:p>
        </p:txBody>
      </p:sp>
      <p:sp>
        <p:nvSpPr>
          <p:cNvPr id="240" name="Google Shape;240;p26"/>
          <p:cNvSpPr txBox="1"/>
          <p:nvPr>
            <p:ph idx="1" type="body"/>
          </p:nvPr>
        </p:nvSpPr>
        <p:spPr>
          <a:xfrm>
            <a:off x="5609250" y="1096000"/>
            <a:ext cx="3388500" cy="1034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Then as we talked about before we want to also narrow down the Frequency start and end to cut off where we see no activity.  </a:t>
            </a:r>
            <a:endParaRPr/>
          </a:p>
        </p:txBody>
      </p:sp>
      <p:pic>
        <p:nvPicPr>
          <p:cNvPr id="241" name="Google Shape;241;p26"/>
          <p:cNvPicPr preferRelativeResize="0"/>
          <p:nvPr/>
        </p:nvPicPr>
        <p:blipFill>
          <a:blip r:embed="rId3">
            <a:alphaModFix/>
          </a:blip>
          <a:stretch>
            <a:fillRect/>
          </a:stretch>
        </p:blipFill>
        <p:spPr>
          <a:xfrm>
            <a:off x="0" y="1382975"/>
            <a:ext cx="5609251" cy="3043076"/>
          </a:xfrm>
          <a:prstGeom prst="rect">
            <a:avLst/>
          </a:prstGeom>
          <a:noFill/>
          <a:ln>
            <a:noFill/>
          </a:ln>
        </p:spPr>
      </p:pic>
      <p:pic>
        <p:nvPicPr>
          <p:cNvPr id="242" name="Google Shape;242;p26"/>
          <p:cNvPicPr preferRelativeResize="0"/>
          <p:nvPr/>
        </p:nvPicPr>
        <p:blipFill>
          <a:blip r:embed="rId4">
            <a:alphaModFix/>
          </a:blip>
          <a:stretch>
            <a:fillRect/>
          </a:stretch>
        </p:blipFill>
        <p:spPr>
          <a:xfrm>
            <a:off x="5688526" y="2260425"/>
            <a:ext cx="3229949" cy="259041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Results of our code/ how it works. cont…</a:t>
            </a:r>
            <a:endParaRPr/>
          </a:p>
        </p:txBody>
      </p:sp>
      <p:sp>
        <p:nvSpPr>
          <p:cNvPr id="248" name="Google Shape;248;p27"/>
          <p:cNvSpPr txBox="1"/>
          <p:nvPr>
            <p:ph idx="1" type="body"/>
          </p:nvPr>
        </p:nvSpPr>
        <p:spPr>
          <a:xfrm>
            <a:off x="5609250" y="1096000"/>
            <a:ext cx="3388500" cy="1034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a:t>Now we can go to our main code, first we load our signal and use a bandpass filter to </a:t>
            </a:r>
            <a:r>
              <a:rPr lang="en"/>
              <a:t>eliminate</a:t>
            </a:r>
            <a:r>
              <a:rPr lang="en"/>
              <a:t> low and high freq noise. Then we do the Stft  and plot the Time vs Freq. </a:t>
            </a:r>
            <a:endParaRPr/>
          </a:p>
        </p:txBody>
      </p:sp>
      <p:pic>
        <p:nvPicPr>
          <p:cNvPr id="249" name="Google Shape;249;p27"/>
          <p:cNvPicPr preferRelativeResize="0"/>
          <p:nvPr/>
        </p:nvPicPr>
        <p:blipFill>
          <a:blip r:embed="rId3">
            <a:alphaModFix/>
          </a:blip>
          <a:stretch>
            <a:fillRect/>
          </a:stretch>
        </p:blipFill>
        <p:spPr>
          <a:xfrm>
            <a:off x="152400" y="1195350"/>
            <a:ext cx="5304449" cy="2850391"/>
          </a:xfrm>
          <a:prstGeom prst="rect">
            <a:avLst/>
          </a:prstGeom>
          <a:noFill/>
          <a:ln>
            <a:noFill/>
          </a:ln>
        </p:spPr>
      </p:pic>
      <p:pic>
        <p:nvPicPr>
          <p:cNvPr id="250" name="Google Shape;250;p27"/>
          <p:cNvPicPr preferRelativeResize="0"/>
          <p:nvPr/>
        </p:nvPicPr>
        <p:blipFill>
          <a:blip r:embed="rId4">
            <a:alphaModFix/>
          </a:blip>
          <a:stretch>
            <a:fillRect/>
          </a:stretch>
        </p:blipFill>
        <p:spPr>
          <a:xfrm>
            <a:off x="5675474" y="2216275"/>
            <a:ext cx="3382352" cy="269813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Results of our code/ how it works. cont…</a:t>
            </a:r>
            <a:endParaRPr/>
          </a:p>
        </p:txBody>
      </p:sp>
      <p:sp>
        <p:nvSpPr>
          <p:cNvPr id="256" name="Google Shape;256;p28"/>
          <p:cNvSpPr txBox="1"/>
          <p:nvPr>
            <p:ph idx="1" type="body"/>
          </p:nvPr>
        </p:nvSpPr>
        <p:spPr>
          <a:xfrm>
            <a:off x="5609250" y="1096000"/>
            <a:ext cx="3388500" cy="351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Next we would load our phoneme bank and set the parameters for our window.  Such as how big the window is and how much overlap would we want. </a:t>
            </a:r>
            <a:endParaRPr/>
          </a:p>
          <a:p>
            <a:pPr indent="0" lvl="0" marL="0" rtl="0" algn="l">
              <a:spcBef>
                <a:spcPts val="1200"/>
              </a:spcBef>
              <a:spcAft>
                <a:spcPts val="1200"/>
              </a:spcAft>
              <a:buNone/>
            </a:pPr>
            <a:r>
              <a:rPr lang="en"/>
              <a:t>The Pros and cons of increasing and decreasing the window size is if we have too big of a window, we could miss some of the </a:t>
            </a:r>
            <a:r>
              <a:rPr lang="en"/>
              <a:t>phonemes</a:t>
            </a:r>
            <a:r>
              <a:rPr lang="en"/>
              <a:t> due to the avg diluting the frequency. However if our window is too small, then we see much more false </a:t>
            </a:r>
            <a:r>
              <a:rPr lang="en"/>
              <a:t>positives</a:t>
            </a:r>
            <a:r>
              <a:rPr lang="en"/>
              <a:t> due to small sample size. </a:t>
            </a:r>
            <a:endParaRPr/>
          </a:p>
        </p:txBody>
      </p:sp>
      <p:pic>
        <p:nvPicPr>
          <p:cNvPr id="257" name="Google Shape;257;p28"/>
          <p:cNvPicPr preferRelativeResize="0"/>
          <p:nvPr/>
        </p:nvPicPr>
        <p:blipFill>
          <a:blip r:embed="rId3">
            <a:alphaModFix/>
          </a:blip>
          <a:stretch>
            <a:fillRect/>
          </a:stretch>
        </p:blipFill>
        <p:spPr>
          <a:xfrm>
            <a:off x="152400" y="1228475"/>
            <a:ext cx="5304449" cy="312121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Results of our code/ how it works. cont…</a:t>
            </a:r>
            <a:endParaRPr/>
          </a:p>
        </p:txBody>
      </p:sp>
      <p:sp>
        <p:nvSpPr>
          <p:cNvPr id="263" name="Google Shape;263;p29"/>
          <p:cNvSpPr txBox="1"/>
          <p:nvPr>
            <p:ph idx="1" type="body"/>
          </p:nvPr>
        </p:nvSpPr>
        <p:spPr>
          <a:xfrm>
            <a:off x="5609250" y="1096000"/>
            <a:ext cx="3388500" cy="1034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a:t>Once we step into our for loop which would be shifting our window across our time domain, we store our temporary window values into Stemp. </a:t>
            </a:r>
            <a:endParaRPr/>
          </a:p>
        </p:txBody>
      </p:sp>
      <p:pic>
        <p:nvPicPr>
          <p:cNvPr id="264" name="Google Shape;264;p29"/>
          <p:cNvPicPr preferRelativeResize="0"/>
          <p:nvPr/>
        </p:nvPicPr>
        <p:blipFill>
          <a:blip r:embed="rId3">
            <a:alphaModFix/>
          </a:blip>
          <a:stretch>
            <a:fillRect/>
          </a:stretch>
        </p:blipFill>
        <p:spPr>
          <a:xfrm>
            <a:off x="329000" y="1206375"/>
            <a:ext cx="4522663" cy="3530851"/>
          </a:xfrm>
          <a:prstGeom prst="rect">
            <a:avLst/>
          </a:prstGeom>
          <a:noFill/>
          <a:ln>
            <a:noFill/>
          </a:ln>
        </p:spPr>
      </p:pic>
      <p:pic>
        <p:nvPicPr>
          <p:cNvPr id="265" name="Google Shape;265;p29"/>
          <p:cNvPicPr preferRelativeResize="0"/>
          <p:nvPr/>
        </p:nvPicPr>
        <p:blipFill>
          <a:blip r:embed="rId4">
            <a:alphaModFix/>
          </a:blip>
          <a:stretch>
            <a:fillRect/>
          </a:stretch>
        </p:blipFill>
        <p:spPr>
          <a:xfrm>
            <a:off x="5470125" y="2282500"/>
            <a:ext cx="3527629" cy="2708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Results of our code/ how it works. cont…</a:t>
            </a:r>
            <a:endParaRPr/>
          </a:p>
        </p:txBody>
      </p:sp>
      <p:sp>
        <p:nvSpPr>
          <p:cNvPr id="271" name="Google Shape;271;p30"/>
          <p:cNvSpPr txBox="1"/>
          <p:nvPr>
            <p:ph idx="1" type="body"/>
          </p:nvPr>
        </p:nvSpPr>
        <p:spPr>
          <a:xfrm>
            <a:off x="5609250" y="1096000"/>
            <a:ext cx="3388500" cy="2899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Once we correlate all the phonemes with the window we select the highest correlation and that would be our current phoneme. </a:t>
            </a:r>
            <a:endParaRPr/>
          </a:p>
          <a:p>
            <a:pPr indent="0" lvl="0" marL="0" rtl="0" algn="l">
              <a:spcBef>
                <a:spcPts val="1200"/>
              </a:spcBef>
              <a:spcAft>
                <a:spcPts val="1200"/>
              </a:spcAft>
              <a:buNone/>
            </a:pPr>
            <a:r>
              <a:rPr lang="en"/>
              <a:t>We had an issue with false triggers of phonemes, so to prevent this we had an </a:t>
            </a:r>
            <a:r>
              <a:rPr lang="en"/>
              <a:t>if statement</a:t>
            </a:r>
            <a:r>
              <a:rPr lang="en"/>
              <a:t> before the phonemes for silence where if the </a:t>
            </a:r>
            <a:r>
              <a:rPr lang="en"/>
              <a:t>threshold</a:t>
            </a:r>
            <a:r>
              <a:rPr lang="en"/>
              <a:t> of 95% correlation was triggered then it would see that cycle as silence and skip the other if statements. </a:t>
            </a:r>
            <a:endParaRPr/>
          </a:p>
        </p:txBody>
      </p:sp>
      <p:pic>
        <p:nvPicPr>
          <p:cNvPr id="272" name="Google Shape;272;p30"/>
          <p:cNvPicPr preferRelativeResize="0"/>
          <p:nvPr/>
        </p:nvPicPr>
        <p:blipFill>
          <a:blip r:embed="rId3">
            <a:alphaModFix/>
          </a:blip>
          <a:stretch>
            <a:fillRect/>
          </a:stretch>
        </p:blipFill>
        <p:spPr>
          <a:xfrm>
            <a:off x="406250" y="1162250"/>
            <a:ext cx="4401129" cy="35308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Results of our code/ how it works. cont…</a:t>
            </a:r>
            <a:endParaRPr/>
          </a:p>
        </p:txBody>
      </p:sp>
      <p:sp>
        <p:nvSpPr>
          <p:cNvPr id="278" name="Google Shape;278;p31"/>
          <p:cNvSpPr txBox="1"/>
          <p:nvPr>
            <p:ph idx="1" type="body"/>
          </p:nvPr>
        </p:nvSpPr>
        <p:spPr>
          <a:xfrm>
            <a:off x="5587175" y="1217425"/>
            <a:ext cx="3388500" cy="2899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If silence was not triggered then we would choose the phonemes regularly where our max correlation index would correspond to a phoneme. </a:t>
            </a:r>
            <a:endParaRPr/>
          </a:p>
        </p:txBody>
      </p:sp>
      <p:pic>
        <p:nvPicPr>
          <p:cNvPr id="279" name="Google Shape;279;p31"/>
          <p:cNvPicPr preferRelativeResize="0"/>
          <p:nvPr/>
        </p:nvPicPr>
        <p:blipFill>
          <a:blip r:embed="rId3">
            <a:alphaModFix/>
          </a:blip>
          <a:stretch>
            <a:fillRect/>
          </a:stretch>
        </p:blipFill>
        <p:spPr>
          <a:xfrm>
            <a:off x="395225" y="1217425"/>
            <a:ext cx="3382021" cy="35308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Output of the code:</a:t>
            </a:r>
            <a:endParaRPr/>
          </a:p>
        </p:txBody>
      </p:sp>
      <p:sp>
        <p:nvSpPr>
          <p:cNvPr id="285" name="Google Shape;285;p32"/>
          <p:cNvSpPr txBox="1"/>
          <p:nvPr>
            <p:ph idx="1" type="body"/>
          </p:nvPr>
        </p:nvSpPr>
        <p:spPr>
          <a:xfrm>
            <a:off x="5728500" y="1409700"/>
            <a:ext cx="2607900" cy="3568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 fat sound</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/h/ hop sound</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/ch/ chip watch</a:t>
            </a:r>
            <a:endParaRPr/>
          </a:p>
        </p:txBody>
      </p:sp>
      <p:pic>
        <p:nvPicPr>
          <p:cNvPr id="286" name="Google Shape;286;p32"/>
          <p:cNvPicPr preferRelativeResize="0"/>
          <p:nvPr/>
        </p:nvPicPr>
        <p:blipFill>
          <a:blip r:embed="rId3">
            <a:alphaModFix/>
          </a:blip>
          <a:stretch>
            <a:fillRect/>
          </a:stretch>
        </p:blipFill>
        <p:spPr>
          <a:xfrm>
            <a:off x="483525" y="1188950"/>
            <a:ext cx="5191125" cy="1162050"/>
          </a:xfrm>
          <a:prstGeom prst="rect">
            <a:avLst/>
          </a:prstGeom>
          <a:noFill/>
          <a:ln>
            <a:noFill/>
          </a:ln>
        </p:spPr>
      </p:pic>
      <p:pic>
        <p:nvPicPr>
          <p:cNvPr id="287" name="Google Shape;287;p32"/>
          <p:cNvPicPr preferRelativeResize="0"/>
          <p:nvPr/>
        </p:nvPicPr>
        <p:blipFill rotWithShape="1">
          <a:blip r:embed="rId4">
            <a:alphaModFix/>
          </a:blip>
          <a:srcRect b="0" l="3044" r="0" t="0"/>
          <a:stretch/>
        </p:blipFill>
        <p:spPr>
          <a:xfrm>
            <a:off x="307925" y="2351000"/>
            <a:ext cx="5366722" cy="1162050"/>
          </a:xfrm>
          <a:prstGeom prst="rect">
            <a:avLst/>
          </a:prstGeom>
          <a:noFill/>
          <a:ln>
            <a:noFill/>
          </a:ln>
        </p:spPr>
      </p:pic>
      <p:pic>
        <p:nvPicPr>
          <p:cNvPr id="288" name="Google Shape;288;p32"/>
          <p:cNvPicPr preferRelativeResize="0"/>
          <p:nvPr/>
        </p:nvPicPr>
        <p:blipFill>
          <a:blip r:embed="rId5">
            <a:alphaModFix/>
          </a:blip>
          <a:stretch>
            <a:fillRect/>
          </a:stretch>
        </p:blipFill>
        <p:spPr>
          <a:xfrm>
            <a:off x="1396738" y="3513050"/>
            <a:ext cx="4277901" cy="14602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issues did we have</a:t>
            </a:r>
            <a:endParaRPr/>
          </a:p>
        </p:txBody>
      </p:sp>
      <p:sp>
        <p:nvSpPr>
          <p:cNvPr id="294" name="Google Shape;294;p33"/>
          <p:cNvSpPr txBox="1"/>
          <p:nvPr>
            <p:ph idx="1" type="body"/>
          </p:nvPr>
        </p:nvSpPr>
        <p:spPr>
          <a:xfrm>
            <a:off x="1297500" y="1567550"/>
            <a:ext cx="7038900" cy="11298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Some issues in the end that we had was detection of a phoneme when there </a:t>
            </a:r>
            <a:r>
              <a:rPr lang="en"/>
              <a:t>wasn't</a:t>
            </a:r>
            <a:r>
              <a:rPr lang="en"/>
              <a:t> any audio detected. </a:t>
            </a:r>
            <a:endParaRPr/>
          </a:p>
          <a:p>
            <a:pPr indent="-311150" lvl="0" marL="457200" rtl="0" algn="l">
              <a:spcBef>
                <a:spcPts val="0"/>
              </a:spcBef>
              <a:spcAft>
                <a:spcPts val="0"/>
              </a:spcAft>
              <a:buSzPts val="1300"/>
              <a:buChar char="-"/>
            </a:pPr>
            <a:r>
              <a:rPr lang="en"/>
              <a:t>Another issue we had was false triggers of different phonemes </a:t>
            </a:r>
            <a:r>
              <a:rPr lang="en"/>
              <a:t>in between</a:t>
            </a:r>
            <a:r>
              <a:rPr lang="en"/>
              <a:t> </a:t>
            </a:r>
            <a:r>
              <a:rPr lang="en"/>
              <a:t>where</a:t>
            </a:r>
            <a:r>
              <a:rPr lang="en"/>
              <a:t> the correct phoneme is </a:t>
            </a:r>
            <a:endParaRPr/>
          </a:p>
        </p:txBody>
      </p:sp>
      <p:pic>
        <p:nvPicPr>
          <p:cNvPr id="295" name="Google Shape;295;p33"/>
          <p:cNvPicPr preferRelativeResize="0"/>
          <p:nvPr/>
        </p:nvPicPr>
        <p:blipFill>
          <a:blip r:embed="rId3">
            <a:alphaModFix/>
          </a:blip>
          <a:stretch>
            <a:fillRect/>
          </a:stretch>
        </p:blipFill>
        <p:spPr>
          <a:xfrm>
            <a:off x="900053" y="2814575"/>
            <a:ext cx="5321704" cy="1816550"/>
          </a:xfrm>
          <a:prstGeom prst="rect">
            <a:avLst/>
          </a:prstGeom>
          <a:noFill/>
          <a:ln>
            <a:noFill/>
          </a:ln>
        </p:spPr>
      </p:pic>
      <p:sp>
        <p:nvSpPr>
          <p:cNvPr id="296" name="Google Shape;296;p33"/>
          <p:cNvSpPr/>
          <p:nvPr/>
        </p:nvSpPr>
        <p:spPr>
          <a:xfrm>
            <a:off x="1203100" y="3090525"/>
            <a:ext cx="353100" cy="276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3"/>
          <p:cNvSpPr/>
          <p:nvPr/>
        </p:nvSpPr>
        <p:spPr>
          <a:xfrm>
            <a:off x="4986875" y="3090525"/>
            <a:ext cx="353100" cy="276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3"/>
          <p:cNvSpPr/>
          <p:nvPr/>
        </p:nvSpPr>
        <p:spPr>
          <a:xfrm>
            <a:off x="1143675" y="3682300"/>
            <a:ext cx="353100" cy="276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3"/>
          <p:cNvSpPr/>
          <p:nvPr/>
        </p:nvSpPr>
        <p:spPr>
          <a:xfrm>
            <a:off x="2399825" y="3682300"/>
            <a:ext cx="353100" cy="276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3"/>
          <p:cNvSpPr/>
          <p:nvPr/>
        </p:nvSpPr>
        <p:spPr>
          <a:xfrm>
            <a:off x="3655975" y="3682300"/>
            <a:ext cx="353100" cy="276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3"/>
          <p:cNvSpPr/>
          <p:nvPr/>
        </p:nvSpPr>
        <p:spPr>
          <a:xfrm>
            <a:off x="4128450" y="3682300"/>
            <a:ext cx="353100" cy="276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3"/>
          <p:cNvSpPr/>
          <p:nvPr/>
        </p:nvSpPr>
        <p:spPr>
          <a:xfrm>
            <a:off x="4600925" y="3682300"/>
            <a:ext cx="353100" cy="276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3"/>
          <p:cNvSpPr/>
          <p:nvPr/>
        </p:nvSpPr>
        <p:spPr>
          <a:xfrm>
            <a:off x="3655975" y="4267700"/>
            <a:ext cx="353100" cy="276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3"/>
          <p:cNvSpPr/>
          <p:nvPr/>
        </p:nvSpPr>
        <p:spPr>
          <a:xfrm>
            <a:off x="4128450" y="4267700"/>
            <a:ext cx="353100" cy="276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3"/>
          <p:cNvSpPr/>
          <p:nvPr/>
        </p:nvSpPr>
        <p:spPr>
          <a:xfrm>
            <a:off x="4600925" y="4267700"/>
            <a:ext cx="353100" cy="276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3"/>
          <p:cNvSpPr/>
          <p:nvPr/>
        </p:nvSpPr>
        <p:spPr>
          <a:xfrm>
            <a:off x="5188475" y="3682300"/>
            <a:ext cx="353100" cy="276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3"/>
          <p:cNvSpPr/>
          <p:nvPr/>
        </p:nvSpPr>
        <p:spPr>
          <a:xfrm>
            <a:off x="5776025" y="3682300"/>
            <a:ext cx="353100" cy="276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a:t>
            </a:r>
            <a:r>
              <a:rPr lang="en"/>
              <a:t>things</a:t>
            </a:r>
            <a:r>
              <a:rPr lang="en"/>
              <a:t> can we improve. </a:t>
            </a:r>
            <a:endParaRPr/>
          </a:p>
        </p:txBody>
      </p:sp>
      <p:sp>
        <p:nvSpPr>
          <p:cNvPr id="313" name="Google Shape;313;p3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We noticed that some of the issues we have can be due to the quality that our audio was recorded on. To improve this we would need to get a better mic or have less background noise when recording. </a:t>
            </a:r>
            <a:endParaRPr/>
          </a:p>
          <a:p>
            <a:pPr indent="-311150" lvl="0" marL="457200" rtl="0" algn="l">
              <a:spcBef>
                <a:spcPts val="0"/>
              </a:spcBef>
              <a:spcAft>
                <a:spcPts val="0"/>
              </a:spcAft>
              <a:buSzPts val="1300"/>
              <a:buChar char="-"/>
            </a:pPr>
            <a:r>
              <a:rPr lang="en"/>
              <a:t>Another issue can be our </a:t>
            </a:r>
            <a:r>
              <a:rPr lang="en"/>
              <a:t>enunciation</a:t>
            </a:r>
            <a:r>
              <a:rPr lang="en"/>
              <a:t> of the phoneme might not be as good. We noticed this for when we pronounced the oo in book and the oo in too. While they were different phonemes. Our </a:t>
            </a:r>
            <a:r>
              <a:rPr lang="en"/>
              <a:t>pronunciation</a:t>
            </a:r>
            <a:r>
              <a:rPr lang="en"/>
              <a:t> of the word in the stft domain looked similar. </a:t>
            </a:r>
            <a:endParaRPr/>
          </a:p>
          <a:p>
            <a:pPr indent="-311150" lvl="0" marL="457200" rtl="0" algn="l">
              <a:spcBef>
                <a:spcPts val="0"/>
              </a:spcBef>
              <a:spcAft>
                <a:spcPts val="0"/>
              </a:spcAft>
              <a:buSzPts val="1300"/>
              <a:buChar char="-"/>
            </a:pPr>
            <a:r>
              <a:rPr lang="en"/>
              <a:t>We also noticed that since we had background noise we tried to filter it out using a band pass filter but it </a:t>
            </a:r>
            <a:r>
              <a:rPr lang="en"/>
              <a:t>seemed</a:t>
            </a:r>
            <a:r>
              <a:rPr lang="en"/>
              <a:t> to still allow background noise through. </a:t>
            </a:r>
            <a:endParaRPr/>
          </a:p>
          <a:p>
            <a:pPr indent="-311150" lvl="0" marL="457200" rtl="0" algn="l">
              <a:spcBef>
                <a:spcPts val="0"/>
              </a:spcBef>
              <a:spcAft>
                <a:spcPts val="0"/>
              </a:spcAft>
              <a:buSzPts val="1300"/>
              <a:buChar char="-"/>
            </a:pPr>
            <a:r>
              <a:rPr lang="en"/>
              <a:t>Another improvement could to also mess with the window sizes of the window shifting, and the window of the stft to further optimize it.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5"/>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Thank you!</a:t>
            </a:r>
            <a:endParaRPr/>
          </a:p>
          <a:p>
            <a:pPr indent="0" lvl="0" marL="0" rtl="0" algn="l">
              <a:spcBef>
                <a:spcPts val="0"/>
              </a:spcBef>
              <a:spcAft>
                <a:spcPts val="0"/>
              </a:spcAft>
              <a:buNone/>
            </a:pPr>
            <a:r>
              <a:rPr lang="en"/>
              <a:t>Q&amp;A</a:t>
            </a:r>
            <a:endParaRPr/>
          </a:p>
        </p:txBody>
      </p:sp>
      <p:sp>
        <p:nvSpPr>
          <p:cNvPr id="319" name="Google Shape;319;p35"/>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